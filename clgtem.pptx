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181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992728" y="320040"/>
            <a:ext cx="4206240" cy="557327"/>
          </a:xfrm>
          <a:prstGeom prst="rect">
            <a:avLst/>
          </a:prstGeom>
        </p:spPr>
      </p:pic>
      <p:sp>
        <p:nvSpPr>
          <p:cNvPr id="3" name="Text 0"/>
          <p:cNvSpPr txBox="1"/>
          <p:nvPr/>
        </p:nvSpPr>
        <p:spPr>
          <a:xfrm>
            <a:off x="457200" y="1417320"/>
            <a:ext cx="11247120" cy="502920"/>
          </a:xfrm>
          <a:prstGeom prst="rect">
            <a:avLst/>
          </a:prstGeom>
          <a:noFill/>
          <a:ln/>
        </p:spPr>
        <p:txBody>
          <a:bodyPr wrap="square" lIns="0" tIns="0" rIns="0" bIns="0" rtlCol="0" anchor="ctr"/>
          <a:lstStyle/>
          <a:p>
            <a:pPr marL="0" indent="0" algn="ctr">
              <a:buNone/>
            </a:pPr>
            <a:r>
              <a:rPr lang="en-US" sz="2800" b="1" dirty="0">
                <a:solidFill>
                  <a:srgbClr val="0070C0"/>
                </a:solidFill>
                <a:latin typeface="Times New Roman" pitchFamily="34" charset="0"/>
                <a:ea typeface="Times New Roman" pitchFamily="34" charset="-122"/>
                <a:cs typeface="Times New Roman" pitchFamily="34" charset="-120"/>
              </a:rPr>
              <a:t>PROJECT TITLE REVIEW</a:t>
            </a:r>
            <a:endParaRPr lang="en-US" sz="2800" dirty="0"/>
          </a:p>
        </p:txBody>
      </p:sp>
      <p:sp>
        <p:nvSpPr>
          <p:cNvPr id="4" name="Text 1"/>
          <p:cNvSpPr txBox="1"/>
          <p:nvPr/>
        </p:nvSpPr>
        <p:spPr>
          <a:xfrm>
            <a:off x="457200" y="1920240"/>
            <a:ext cx="11247120" cy="411480"/>
          </a:xfrm>
          <a:prstGeom prst="rect">
            <a:avLst/>
          </a:prstGeom>
          <a:noFill/>
          <a:ln/>
        </p:spPr>
        <p:txBody>
          <a:bodyPr wrap="square" lIns="0" tIns="0" rIns="0" bIns="0" rtlCol="0" anchor="ctr"/>
          <a:lstStyle/>
          <a:p>
            <a:pPr marL="0" indent="0" algn="ctr">
              <a:buNone/>
            </a:pPr>
            <a:r>
              <a:rPr lang="en-US" sz="2000" dirty="0">
                <a:solidFill>
                  <a:srgbClr val="0070C0"/>
                </a:solidFill>
                <a:latin typeface="Times New Roman" pitchFamily="34" charset="0"/>
                <a:ea typeface="Times New Roman" pitchFamily="34" charset="-122"/>
                <a:cs typeface="Times New Roman" pitchFamily="34" charset="-120"/>
              </a:rPr>
              <a:t>Academic Year 2026-27</a:t>
            </a:r>
            <a:endParaRPr lang="en-US" sz="2000" dirty="0"/>
          </a:p>
        </p:txBody>
      </p:sp>
      <p:sp>
        <p:nvSpPr>
          <p:cNvPr id="5" name="Text 2"/>
          <p:cNvSpPr txBox="1"/>
          <p:nvPr/>
        </p:nvSpPr>
        <p:spPr>
          <a:xfrm>
            <a:off x="640080" y="2468880"/>
            <a:ext cx="10881360" cy="914400"/>
          </a:xfrm>
          <a:prstGeom prst="rect">
            <a:avLst/>
          </a:prstGeom>
          <a:noFill/>
          <a:ln/>
        </p:spPr>
        <p:txBody>
          <a:bodyPr wrap="square" lIns="0" tIns="0" rIns="0" bIns="0" rtlCol="0" anchor="ctr"/>
          <a:lstStyle/>
          <a:p>
            <a:pPr marL="0" indent="0" algn="ctr">
              <a:buNone/>
            </a:pPr>
            <a:r>
              <a:rPr lang="en-US" sz="3000" b="1" dirty="0" err="1">
                <a:solidFill>
                  <a:srgbClr val="C00000"/>
                </a:solidFill>
                <a:latin typeface="Times New Roman" pitchFamily="34" charset="0"/>
                <a:ea typeface="Times New Roman" pitchFamily="34" charset="-122"/>
                <a:cs typeface="Times New Roman" pitchFamily="34" charset="-120"/>
              </a:rPr>
              <a:t>CareerFit</a:t>
            </a:r>
            <a:r>
              <a:rPr lang="en-US" sz="3000" b="1" dirty="0">
                <a:solidFill>
                  <a:srgbClr val="C00000"/>
                </a:solidFill>
                <a:latin typeface="Times New Roman" pitchFamily="34" charset="0"/>
                <a:ea typeface="Times New Roman" pitchFamily="34" charset="-122"/>
                <a:cs typeface="Times New Roman" pitchFamily="34" charset="-120"/>
              </a:rPr>
              <a:t>: AI Based Career &amp; Job Matching </a:t>
            </a:r>
            <a:endParaRPr lang="en-US" sz="3000" dirty="0"/>
          </a:p>
        </p:txBody>
      </p:sp>
      <p:sp>
        <p:nvSpPr>
          <p:cNvPr id="6" name="Text 3"/>
          <p:cNvSpPr txBox="1"/>
          <p:nvPr/>
        </p:nvSpPr>
        <p:spPr>
          <a:xfrm>
            <a:off x="457200" y="3337560"/>
            <a:ext cx="11247120" cy="457200"/>
          </a:xfrm>
          <a:prstGeom prst="rect">
            <a:avLst/>
          </a:prstGeom>
          <a:noFill/>
          <a:ln/>
        </p:spPr>
        <p:txBody>
          <a:bodyPr wrap="square" lIns="0" tIns="0" rIns="0" bIns="0" rtlCol="0" anchor="ctr"/>
          <a:lstStyle/>
          <a:p>
            <a:pPr marL="0" indent="0" algn="ctr">
              <a:buNone/>
            </a:pPr>
            <a:r>
              <a:rPr lang="en-US" sz="2200" dirty="0">
                <a:solidFill>
                  <a:srgbClr val="0070C0"/>
                </a:solidFill>
                <a:latin typeface="Times New Roman" pitchFamily="34" charset="0"/>
                <a:ea typeface="Times New Roman" pitchFamily="34" charset="-122"/>
                <a:cs typeface="Times New Roman" pitchFamily="34" charset="-120"/>
              </a:rPr>
              <a:t>Department of Computer Science and Engineering</a:t>
            </a:r>
            <a:endParaRPr lang="en-US" sz="2200" dirty="0"/>
          </a:p>
        </p:txBody>
      </p:sp>
      <p:sp>
        <p:nvSpPr>
          <p:cNvPr id="7" name="Text 4"/>
          <p:cNvSpPr txBox="1"/>
          <p:nvPr/>
        </p:nvSpPr>
        <p:spPr>
          <a:xfrm>
            <a:off x="1828800" y="4846320"/>
            <a:ext cx="4480560" cy="1188720"/>
          </a:xfrm>
          <a:prstGeom prst="rect">
            <a:avLst/>
          </a:prstGeom>
          <a:noFill/>
          <a:ln/>
        </p:spPr>
        <p:txBody>
          <a:bodyPr wrap="square" lIns="0" tIns="0" rIns="0" bIns="0" rtlCol="0" anchor="t"/>
          <a:lstStyle/>
          <a:p>
            <a:pPr marL="0" indent="0">
              <a:lnSpc>
                <a:spcPct val="120000"/>
              </a:lnSpc>
              <a:buNone/>
            </a:pPr>
            <a:r>
              <a:rPr lang="en-US" sz="1700" b="1" dirty="0">
                <a:solidFill>
                  <a:srgbClr val="C00000"/>
                </a:solidFill>
                <a:latin typeface="Times New Roman" pitchFamily="34" charset="0"/>
                <a:ea typeface="Times New Roman" pitchFamily="34" charset="-122"/>
                <a:cs typeface="Times New Roman" pitchFamily="34" charset="-120"/>
              </a:rPr>
              <a:t>Project Guide: </a:t>
            </a:r>
            <a:r>
              <a:rPr lang="en-US" sz="1700" dirty="0">
                <a:solidFill>
                  <a:srgbClr val="000000"/>
                </a:solidFill>
                <a:latin typeface="Times New Roman" pitchFamily="34" charset="0"/>
                <a:ea typeface="Times New Roman" pitchFamily="34" charset="-122"/>
                <a:cs typeface="Times New Roman" pitchFamily="34" charset="-120"/>
              </a:rPr>
              <a:t>Dr. K. Nagaraju
Department of Computer Science and Engineering</a:t>
            </a:r>
            <a:endParaRPr lang="en-US" sz="1700" dirty="0"/>
          </a:p>
        </p:txBody>
      </p:sp>
      <p:sp>
        <p:nvSpPr>
          <p:cNvPr id="8" name="Text 5"/>
          <p:cNvSpPr txBox="1"/>
          <p:nvPr/>
        </p:nvSpPr>
        <p:spPr>
          <a:xfrm>
            <a:off x="6492240" y="4709160"/>
            <a:ext cx="274320" cy="365760"/>
          </a:xfrm>
          <a:prstGeom prst="rect">
            <a:avLst/>
          </a:prstGeom>
          <a:noFill/>
          <a:ln/>
        </p:spPr>
        <p:txBody>
          <a:bodyPr wrap="square" lIns="0" tIns="0" rIns="0" bIns="0" rtlCol="0" anchor="ctr"/>
          <a:lstStyle/>
          <a:p>
            <a:pPr marL="0" indent="0">
              <a:buNone/>
            </a:pPr>
            <a:endParaRPr lang="en-US" sz="1700" dirty="0"/>
          </a:p>
        </p:txBody>
      </p:sp>
      <p:sp>
        <p:nvSpPr>
          <p:cNvPr id="9" name="Text 6"/>
          <p:cNvSpPr txBox="1"/>
          <p:nvPr/>
        </p:nvSpPr>
        <p:spPr>
          <a:xfrm>
            <a:off x="7548464" y="4800600"/>
            <a:ext cx="4937760" cy="365760"/>
          </a:xfrm>
          <a:prstGeom prst="rect">
            <a:avLst/>
          </a:prstGeom>
          <a:noFill/>
          <a:ln/>
        </p:spPr>
        <p:txBody>
          <a:bodyPr wrap="square" lIns="0" tIns="0" rIns="0" bIns="0" rtlCol="0" anchor="ctr"/>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N. Lakshmi Susmitha – 24A95A0501 – CSE</a:t>
            </a:r>
            <a:endParaRPr lang="en-US" sz="1550" dirty="0"/>
          </a:p>
        </p:txBody>
      </p:sp>
      <p:sp>
        <p:nvSpPr>
          <p:cNvPr id="10" name="Text 7"/>
          <p:cNvSpPr txBox="1"/>
          <p:nvPr/>
        </p:nvSpPr>
        <p:spPr>
          <a:xfrm>
            <a:off x="6492240" y="5093208"/>
            <a:ext cx="274320" cy="365760"/>
          </a:xfrm>
          <a:prstGeom prst="rect">
            <a:avLst/>
          </a:prstGeom>
          <a:noFill/>
          <a:ln/>
        </p:spPr>
        <p:txBody>
          <a:bodyPr wrap="square" lIns="0" tIns="0" rIns="0" bIns="0" rtlCol="0" anchor="ctr"/>
          <a:lstStyle/>
          <a:p>
            <a:pPr marL="0" indent="0">
              <a:buNone/>
            </a:pPr>
            <a:endParaRPr lang="en-US" sz="1700" dirty="0"/>
          </a:p>
        </p:txBody>
      </p:sp>
      <p:sp>
        <p:nvSpPr>
          <p:cNvPr id="11" name="Text 8"/>
          <p:cNvSpPr txBox="1"/>
          <p:nvPr/>
        </p:nvSpPr>
        <p:spPr>
          <a:xfrm>
            <a:off x="7548464" y="5093208"/>
            <a:ext cx="4155855" cy="365760"/>
          </a:xfrm>
          <a:prstGeom prst="rect">
            <a:avLst/>
          </a:prstGeom>
          <a:noFill/>
          <a:ln/>
        </p:spPr>
        <p:txBody>
          <a:bodyPr wrap="square" lIns="0" tIns="0" rIns="0" bIns="0" rtlCol="0" anchor="ctr"/>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R. L. Divya Sri – 23A91A05I3 – CSE</a:t>
            </a:r>
            <a:endParaRPr lang="en-US" sz="1550" dirty="0"/>
          </a:p>
        </p:txBody>
      </p:sp>
      <p:sp>
        <p:nvSpPr>
          <p:cNvPr id="12" name="Text 9"/>
          <p:cNvSpPr txBox="1"/>
          <p:nvPr/>
        </p:nvSpPr>
        <p:spPr>
          <a:xfrm>
            <a:off x="6492240" y="5477256"/>
            <a:ext cx="274320" cy="365760"/>
          </a:xfrm>
          <a:prstGeom prst="rect">
            <a:avLst/>
          </a:prstGeom>
          <a:noFill/>
          <a:ln/>
        </p:spPr>
        <p:txBody>
          <a:bodyPr wrap="square" lIns="0" tIns="0" rIns="0" bIns="0" rtlCol="0" anchor="ctr"/>
          <a:lstStyle/>
          <a:p>
            <a:pPr marL="0" indent="0">
              <a:buNone/>
            </a:pPr>
            <a:endParaRPr lang="en-US" sz="1700" dirty="0"/>
          </a:p>
        </p:txBody>
      </p:sp>
      <p:sp>
        <p:nvSpPr>
          <p:cNvPr id="13" name="Text 10"/>
          <p:cNvSpPr txBox="1"/>
          <p:nvPr/>
        </p:nvSpPr>
        <p:spPr>
          <a:xfrm>
            <a:off x="7548464" y="5477256"/>
            <a:ext cx="4155856" cy="365760"/>
          </a:xfrm>
          <a:prstGeom prst="rect">
            <a:avLst/>
          </a:prstGeom>
          <a:noFill/>
          <a:ln/>
        </p:spPr>
        <p:txBody>
          <a:bodyPr wrap="square" lIns="0" tIns="0" rIns="0" bIns="0" rtlCol="0" anchor="ctr"/>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V. S. S. Raghuram – 23A91A05D4 – CSE</a:t>
            </a:r>
            <a:endParaRPr lang="en-US" sz="1550" dirty="0"/>
          </a:p>
        </p:txBody>
      </p:sp>
      <p:sp>
        <p:nvSpPr>
          <p:cNvPr id="14" name="Text 11"/>
          <p:cNvSpPr txBox="1"/>
          <p:nvPr/>
        </p:nvSpPr>
        <p:spPr>
          <a:xfrm>
            <a:off x="6492240" y="5861304"/>
            <a:ext cx="274320" cy="365760"/>
          </a:xfrm>
          <a:prstGeom prst="rect">
            <a:avLst/>
          </a:prstGeom>
          <a:noFill/>
          <a:ln/>
        </p:spPr>
        <p:txBody>
          <a:bodyPr wrap="square" lIns="0" tIns="0" rIns="0" bIns="0" rtlCol="0" anchor="ctr"/>
          <a:lstStyle/>
          <a:p>
            <a:pPr marL="0" indent="0">
              <a:buNone/>
            </a:pPr>
            <a:endParaRPr lang="en-US" sz="1700" dirty="0"/>
          </a:p>
        </p:txBody>
      </p:sp>
      <p:sp>
        <p:nvSpPr>
          <p:cNvPr id="15" name="Text 12"/>
          <p:cNvSpPr txBox="1"/>
          <p:nvPr/>
        </p:nvSpPr>
        <p:spPr>
          <a:xfrm>
            <a:off x="7548464" y="5861304"/>
            <a:ext cx="4155856" cy="365760"/>
          </a:xfrm>
          <a:prstGeom prst="rect">
            <a:avLst/>
          </a:prstGeom>
          <a:noFill/>
          <a:ln/>
        </p:spPr>
        <p:txBody>
          <a:bodyPr wrap="square" lIns="0" tIns="0" rIns="0" bIns="0" rtlCol="0" anchor="ctr"/>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Swapnanil Gayen – 23A91A05J7 – CSE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457200" y="868680"/>
            <a:ext cx="11247120" cy="64008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Domain of the Project Work</a:t>
            </a:r>
            <a:endParaRPr lang="en-US" sz="3200" dirty="0"/>
          </a:p>
        </p:txBody>
      </p:sp>
      <p:sp>
        <p:nvSpPr>
          <p:cNvPr id="4" name="Text 1"/>
          <p:cNvSpPr txBox="1"/>
          <p:nvPr/>
        </p:nvSpPr>
        <p:spPr>
          <a:xfrm>
            <a:off x="822960" y="1737360"/>
            <a:ext cx="10515600" cy="1463040"/>
          </a:xfrm>
          <a:prstGeom prst="rect">
            <a:avLst/>
          </a:prstGeom>
          <a:noFill/>
          <a:ln/>
        </p:spPr>
        <p:txBody>
          <a:bodyPr wrap="square" lIns="0" tIns="0" rIns="0" bIns="0" rtlCol="0" anchor="t"/>
          <a:lstStyle/>
          <a:p>
            <a:pPr marL="0" indent="0" algn="just">
              <a:lnSpc>
                <a:spcPct val="130000"/>
              </a:lnSpc>
              <a:buNone/>
            </a:pPr>
            <a:r>
              <a:rPr lang="en-US" sz="2000" dirty="0">
                <a:solidFill>
                  <a:srgbClr val="000000"/>
                </a:solidFill>
                <a:latin typeface="Times New Roman" pitchFamily="34" charset="0"/>
                <a:ea typeface="Times New Roman" pitchFamily="34" charset="-122"/>
                <a:cs typeface="Times New Roman" pitchFamily="34" charset="-120"/>
              </a:rPr>
              <a:t>The project falls under the domain of Machine Learning, applying supervised learning and Natural Language Processing (NLP) techniques to build an intelligent, data-driven career guidance system for students.</a:t>
            </a:r>
            <a:endParaRPr lang="en-US" sz="2000" dirty="0"/>
          </a:p>
        </p:txBody>
      </p:sp>
      <p:sp>
        <p:nvSpPr>
          <p:cNvPr id="5" name="Text 2"/>
          <p:cNvSpPr txBox="1"/>
          <p:nvPr/>
        </p:nvSpPr>
        <p:spPr>
          <a:xfrm>
            <a:off x="822960" y="3383280"/>
            <a:ext cx="365760" cy="457200"/>
          </a:xfrm>
          <a:prstGeom prst="rect">
            <a:avLst/>
          </a:prstGeom>
          <a:noFill/>
          <a:ln/>
        </p:spPr>
        <p:txBody>
          <a:bodyPr wrap="square" lIns="0" tIns="0" rIns="0" bIns="0" rtlCol="0" anchor="t"/>
          <a:lstStyle/>
          <a:p>
            <a:pPr marL="0" indent="0">
              <a:buNone/>
            </a:pPr>
            <a:r>
              <a:rPr lang="en-US" sz="2000" b="1" dirty="0">
                <a:solidFill>
                  <a:srgbClr val="000000"/>
                </a:solidFill>
                <a:latin typeface="Arial" pitchFamily="34" charset="0"/>
                <a:ea typeface="Arial" pitchFamily="34" charset="-122"/>
                <a:cs typeface="Arial" pitchFamily="34" charset="-120"/>
              </a:rPr>
              <a:t>➢</a:t>
            </a:r>
            <a:endParaRPr lang="en-US" sz="2000" dirty="0"/>
          </a:p>
        </p:txBody>
      </p:sp>
      <p:sp>
        <p:nvSpPr>
          <p:cNvPr id="6" name="Text 3"/>
          <p:cNvSpPr txBox="1"/>
          <p:nvPr/>
        </p:nvSpPr>
        <p:spPr>
          <a:xfrm>
            <a:off x="1188720" y="3383280"/>
            <a:ext cx="9966960" cy="457200"/>
          </a:xfrm>
          <a:prstGeom prst="rect">
            <a:avLst/>
          </a:prstGeom>
          <a:noFill/>
          <a:ln/>
        </p:spPr>
        <p:txBody>
          <a:bodyPr wrap="square" lIns="0" tIns="0" rIns="0" bIns="0" rtlCol="0" anchor="t"/>
          <a:lstStyle/>
          <a:p>
            <a:pPr marL="0" indent="0">
              <a:buNone/>
            </a:pPr>
            <a:r>
              <a:rPr lang="en-US" sz="2000" dirty="0">
                <a:solidFill>
                  <a:srgbClr val="000000"/>
                </a:solidFill>
                <a:latin typeface="Times New Roman" pitchFamily="34" charset="0"/>
                <a:ea typeface="Times New Roman" pitchFamily="34" charset="-122"/>
                <a:cs typeface="Times New Roman" pitchFamily="34" charset="-120"/>
              </a:rPr>
              <a:t>NLP – Resume and job description text analysis</a:t>
            </a:r>
            <a:endParaRPr lang="en-US" sz="2000" dirty="0"/>
          </a:p>
        </p:txBody>
      </p:sp>
      <p:sp>
        <p:nvSpPr>
          <p:cNvPr id="7" name="Text 4"/>
          <p:cNvSpPr txBox="1"/>
          <p:nvPr/>
        </p:nvSpPr>
        <p:spPr>
          <a:xfrm>
            <a:off x="822960" y="4023360"/>
            <a:ext cx="365760" cy="457200"/>
          </a:xfrm>
          <a:prstGeom prst="rect">
            <a:avLst/>
          </a:prstGeom>
          <a:noFill/>
          <a:ln/>
        </p:spPr>
        <p:txBody>
          <a:bodyPr wrap="square" lIns="0" tIns="0" rIns="0" bIns="0" rtlCol="0" anchor="t"/>
          <a:lstStyle/>
          <a:p>
            <a:pPr marL="0" indent="0">
              <a:buNone/>
            </a:pPr>
            <a:r>
              <a:rPr lang="en-US" sz="2000" b="1" dirty="0">
                <a:solidFill>
                  <a:srgbClr val="000000"/>
                </a:solidFill>
                <a:latin typeface="Arial" pitchFamily="34" charset="0"/>
                <a:ea typeface="Arial" pitchFamily="34" charset="-122"/>
                <a:cs typeface="Arial" pitchFamily="34" charset="-120"/>
              </a:rPr>
              <a:t>➢</a:t>
            </a:r>
            <a:endParaRPr lang="en-US" sz="2000" dirty="0"/>
          </a:p>
        </p:txBody>
      </p:sp>
      <p:sp>
        <p:nvSpPr>
          <p:cNvPr id="8" name="Text 5"/>
          <p:cNvSpPr txBox="1"/>
          <p:nvPr/>
        </p:nvSpPr>
        <p:spPr>
          <a:xfrm>
            <a:off x="1188720" y="4023360"/>
            <a:ext cx="9966960" cy="457200"/>
          </a:xfrm>
          <a:prstGeom prst="rect">
            <a:avLst/>
          </a:prstGeom>
          <a:noFill/>
          <a:ln/>
        </p:spPr>
        <p:txBody>
          <a:bodyPr wrap="square" lIns="0" tIns="0" rIns="0" bIns="0" rtlCol="0" anchor="t"/>
          <a:lstStyle/>
          <a:p>
            <a:pPr marL="0" indent="0">
              <a:buNone/>
            </a:pPr>
            <a:r>
              <a:rPr lang="en-US" sz="2000" dirty="0">
                <a:solidFill>
                  <a:srgbClr val="000000"/>
                </a:solidFill>
                <a:latin typeface="Times New Roman" pitchFamily="34" charset="0"/>
                <a:ea typeface="Times New Roman" pitchFamily="34" charset="-122"/>
                <a:cs typeface="Times New Roman" pitchFamily="34" charset="-120"/>
              </a:rPr>
              <a:t>Predictive Modeling – Placement outcome prediction</a:t>
            </a:r>
            <a:endParaRPr lang="en-US" sz="2000" dirty="0"/>
          </a:p>
        </p:txBody>
      </p:sp>
      <p:sp>
        <p:nvSpPr>
          <p:cNvPr id="9" name="Text 6"/>
          <p:cNvSpPr txBox="1"/>
          <p:nvPr/>
        </p:nvSpPr>
        <p:spPr>
          <a:xfrm>
            <a:off x="822960" y="4663440"/>
            <a:ext cx="365760" cy="457200"/>
          </a:xfrm>
          <a:prstGeom prst="rect">
            <a:avLst/>
          </a:prstGeom>
          <a:noFill/>
          <a:ln/>
        </p:spPr>
        <p:txBody>
          <a:bodyPr wrap="square" lIns="0" tIns="0" rIns="0" bIns="0" rtlCol="0" anchor="t"/>
          <a:lstStyle/>
          <a:p>
            <a:pPr marL="0" indent="0">
              <a:buNone/>
            </a:pPr>
            <a:r>
              <a:rPr lang="en-US" sz="2000" b="1" dirty="0">
                <a:solidFill>
                  <a:srgbClr val="000000"/>
                </a:solidFill>
                <a:latin typeface="Arial" pitchFamily="34" charset="0"/>
                <a:ea typeface="Arial" pitchFamily="34" charset="-122"/>
                <a:cs typeface="Arial" pitchFamily="34" charset="-120"/>
              </a:rPr>
              <a:t>➢</a:t>
            </a:r>
            <a:endParaRPr lang="en-US" sz="2000" dirty="0"/>
          </a:p>
        </p:txBody>
      </p:sp>
      <p:sp>
        <p:nvSpPr>
          <p:cNvPr id="10" name="Text 7"/>
          <p:cNvSpPr txBox="1"/>
          <p:nvPr/>
        </p:nvSpPr>
        <p:spPr>
          <a:xfrm>
            <a:off x="1188720" y="4663440"/>
            <a:ext cx="9966960" cy="457200"/>
          </a:xfrm>
          <a:prstGeom prst="rect">
            <a:avLst/>
          </a:prstGeom>
          <a:noFill/>
          <a:ln/>
        </p:spPr>
        <p:txBody>
          <a:bodyPr wrap="square" lIns="0" tIns="0" rIns="0" bIns="0" rtlCol="0" anchor="t"/>
          <a:lstStyle/>
          <a:p>
            <a:pPr marL="0" indent="0">
              <a:buNone/>
            </a:pPr>
            <a:r>
              <a:rPr lang="en-US" sz="2000" dirty="0">
                <a:solidFill>
                  <a:srgbClr val="000000"/>
                </a:solidFill>
                <a:latin typeface="Times New Roman" pitchFamily="34" charset="0"/>
                <a:ea typeface="Times New Roman" pitchFamily="34" charset="-122"/>
                <a:cs typeface="Times New Roman" pitchFamily="34" charset="-120"/>
              </a:rPr>
              <a:t>Recommendation Systems – Skill and job-role suggestions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457200" y="868680"/>
            <a:ext cx="11247120" cy="64008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Title of the Base Paper</a:t>
            </a:r>
            <a:endParaRPr lang="en-US" sz="3200" dirty="0"/>
          </a:p>
        </p:txBody>
      </p:sp>
      <p:sp>
        <p:nvSpPr>
          <p:cNvPr id="4" name="Text 1"/>
          <p:cNvSpPr txBox="1"/>
          <p:nvPr/>
        </p:nvSpPr>
        <p:spPr>
          <a:xfrm>
            <a:off x="822960" y="1920240"/>
            <a:ext cx="365760" cy="457200"/>
          </a:xfrm>
          <a:prstGeom prst="rect">
            <a:avLst/>
          </a:prstGeom>
          <a:noFill/>
          <a:ln/>
        </p:spPr>
        <p:txBody>
          <a:bodyPr wrap="square" lIns="0" tIns="0" rIns="0" bIns="0" rtlCol="0" anchor="t"/>
          <a:lstStyle/>
          <a:p>
            <a:pPr marL="0" indent="0">
              <a:buNone/>
            </a:pPr>
            <a:r>
              <a:rPr lang="en-US" sz="2100" b="1" dirty="0">
                <a:solidFill>
                  <a:srgbClr val="000000"/>
                </a:solidFill>
                <a:latin typeface="Arial" pitchFamily="34" charset="0"/>
                <a:ea typeface="Arial" pitchFamily="34" charset="-122"/>
                <a:cs typeface="Arial" pitchFamily="34" charset="-120"/>
              </a:rPr>
              <a:t>➢</a:t>
            </a:r>
            <a:endParaRPr lang="en-US" sz="2100" dirty="0"/>
          </a:p>
        </p:txBody>
      </p:sp>
      <p:sp>
        <p:nvSpPr>
          <p:cNvPr id="5" name="Text 2"/>
          <p:cNvSpPr txBox="1"/>
          <p:nvPr/>
        </p:nvSpPr>
        <p:spPr>
          <a:xfrm>
            <a:off x="1188720" y="1920240"/>
            <a:ext cx="9966960" cy="457200"/>
          </a:xfrm>
          <a:prstGeom prst="rect">
            <a:avLst/>
          </a:prstGeom>
          <a:noFill/>
          <a:ln/>
        </p:spPr>
        <p:txBody>
          <a:bodyPr wrap="square" lIns="0" tIns="0" rIns="0" bIns="0" rtlCol="0" anchor="t"/>
          <a:lstStyle/>
          <a:p>
            <a:pPr marL="0" indent="0">
              <a:buNone/>
            </a:pPr>
            <a:r>
              <a:rPr lang="en-US" sz="2100" dirty="0">
                <a:solidFill>
                  <a:srgbClr val="000000"/>
                </a:solidFill>
                <a:latin typeface="Times New Roman" pitchFamily="34" charset="0"/>
                <a:ea typeface="Times New Roman" pitchFamily="34" charset="-122"/>
                <a:cs typeface="Times New Roman" pitchFamily="34" charset="-120"/>
              </a:rPr>
              <a:t>Journal Name: IEEE Access</a:t>
            </a:r>
            <a:endParaRPr lang="en-US" sz="2100" dirty="0"/>
          </a:p>
        </p:txBody>
      </p:sp>
      <p:sp>
        <p:nvSpPr>
          <p:cNvPr id="6" name="Text 3"/>
          <p:cNvSpPr txBox="1"/>
          <p:nvPr/>
        </p:nvSpPr>
        <p:spPr>
          <a:xfrm>
            <a:off x="822960" y="2578608"/>
            <a:ext cx="365760" cy="457200"/>
          </a:xfrm>
          <a:prstGeom prst="rect">
            <a:avLst/>
          </a:prstGeom>
          <a:noFill/>
          <a:ln/>
        </p:spPr>
        <p:txBody>
          <a:bodyPr wrap="square" lIns="0" tIns="0" rIns="0" bIns="0" rtlCol="0" anchor="t"/>
          <a:lstStyle/>
          <a:p>
            <a:pPr marL="0" indent="0">
              <a:buNone/>
            </a:pPr>
            <a:r>
              <a:rPr lang="en-US" sz="2100" b="1" dirty="0">
                <a:solidFill>
                  <a:srgbClr val="000000"/>
                </a:solidFill>
                <a:latin typeface="Arial" pitchFamily="34" charset="0"/>
                <a:ea typeface="Arial" pitchFamily="34" charset="-122"/>
                <a:cs typeface="Arial" pitchFamily="34" charset="-120"/>
              </a:rPr>
              <a:t>➢</a:t>
            </a:r>
            <a:endParaRPr lang="en-US" sz="2100" dirty="0"/>
          </a:p>
        </p:txBody>
      </p:sp>
      <p:sp>
        <p:nvSpPr>
          <p:cNvPr id="7" name="Text 4"/>
          <p:cNvSpPr txBox="1"/>
          <p:nvPr/>
        </p:nvSpPr>
        <p:spPr>
          <a:xfrm>
            <a:off x="1188720" y="2578608"/>
            <a:ext cx="9966960" cy="457200"/>
          </a:xfrm>
          <a:prstGeom prst="rect">
            <a:avLst/>
          </a:prstGeom>
          <a:noFill/>
          <a:ln/>
        </p:spPr>
        <p:txBody>
          <a:bodyPr wrap="square" lIns="0" tIns="0" rIns="0" bIns="0" rtlCol="0" anchor="t"/>
          <a:lstStyle/>
          <a:p>
            <a:pPr marL="0" indent="0">
              <a:buNone/>
            </a:pPr>
            <a:r>
              <a:rPr lang="en-US" sz="2100" dirty="0">
                <a:solidFill>
                  <a:srgbClr val="000000"/>
                </a:solidFill>
                <a:latin typeface="Times New Roman" pitchFamily="34" charset="0"/>
                <a:ea typeface="Times New Roman" pitchFamily="34" charset="-122"/>
                <a:cs typeface="Times New Roman" pitchFamily="34" charset="-120"/>
              </a:rPr>
              <a:t>Year: 2026</a:t>
            </a:r>
            <a:endParaRPr lang="en-US" sz="2100" dirty="0"/>
          </a:p>
        </p:txBody>
      </p:sp>
      <p:sp>
        <p:nvSpPr>
          <p:cNvPr id="8" name="Text 5"/>
          <p:cNvSpPr txBox="1"/>
          <p:nvPr/>
        </p:nvSpPr>
        <p:spPr>
          <a:xfrm>
            <a:off x="822960" y="3236976"/>
            <a:ext cx="365760" cy="457200"/>
          </a:xfrm>
          <a:prstGeom prst="rect">
            <a:avLst/>
          </a:prstGeom>
          <a:noFill/>
          <a:ln/>
        </p:spPr>
        <p:txBody>
          <a:bodyPr wrap="square" lIns="0" tIns="0" rIns="0" bIns="0" rtlCol="0" anchor="t"/>
          <a:lstStyle/>
          <a:p>
            <a:pPr marL="0" indent="0">
              <a:buNone/>
            </a:pPr>
            <a:r>
              <a:rPr lang="en-US" sz="2100" b="1" dirty="0">
                <a:solidFill>
                  <a:srgbClr val="000000"/>
                </a:solidFill>
                <a:latin typeface="Arial" pitchFamily="34" charset="0"/>
                <a:ea typeface="Arial" pitchFamily="34" charset="-122"/>
                <a:cs typeface="Arial" pitchFamily="34" charset="-120"/>
              </a:rPr>
              <a:t>➢</a:t>
            </a:r>
            <a:endParaRPr lang="en-US" sz="2100" dirty="0"/>
          </a:p>
        </p:txBody>
      </p:sp>
      <p:sp>
        <p:nvSpPr>
          <p:cNvPr id="9" name="Text 6"/>
          <p:cNvSpPr txBox="1"/>
          <p:nvPr/>
        </p:nvSpPr>
        <p:spPr>
          <a:xfrm>
            <a:off x="1188720" y="3236976"/>
            <a:ext cx="9966960" cy="457200"/>
          </a:xfrm>
          <a:prstGeom prst="rect">
            <a:avLst/>
          </a:prstGeom>
          <a:noFill/>
          <a:ln/>
        </p:spPr>
        <p:txBody>
          <a:bodyPr wrap="square" lIns="0" tIns="0" rIns="0" bIns="0" rtlCol="0" anchor="t"/>
          <a:lstStyle/>
          <a:p>
            <a:pPr marL="0" indent="0">
              <a:buNone/>
            </a:pPr>
            <a:r>
              <a:rPr lang="en-US" sz="2100" dirty="0">
                <a:solidFill>
                  <a:srgbClr val="000000"/>
                </a:solidFill>
                <a:latin typeface="Times New Roman" pitchFamily="34" charset="0"/>
                <a:ea typeface="Times New Roman" pitchFamily="34" charset="-122"/>
                <a:cs typeface="Times New Roman" pitchFamily="34" charset="-120"/>
              </a:rPr>
              <a:t>Volume: 14</a:t>
            </a:r>
            <a:endParaRPr lang="en-US" sz="2100" dirty="0"/>
          </a:p>
        </p:txBody>
      </p:sp>
      <p:sp>
        <p:nvSpPr>
          <p:cNvPr id="10" name="Text 7"/>
          <p:cNvSpPr txBox="1"/>
          <p:nvPr/>
        </p:nvSpPr>
        <p:spPr>
          <a:xfrm>
            <a:off x="822960" y="3895344"/>
            <a:ext cx="365760" cy="457200"/>
          </a:xfrm>
          <a:prstGeom prst="rect">
            <a:avLst/>
          </a:prstGeom>
          <a:noFill/>
          <a:ln/>
        </p:spPr>
        <p:txBody>
          <a:bodyPr wrap="square" lIns="0" tIns="0" rIns="0" bIns="0" rtlCol="0" anchor="t"/>
          <a:lstStyle/>
          <a:p>
            <a:pPr marL="0" indent="0">
              <a:buNone/>
            </a:pPr>
            <a:r>
              <a:rPr lang="en-US" sz="2100" b="1" dirty="0">
                <a:solidFill>
                  <a:srgbClr val="000000"/>
                </a:solidFill>
                <a:latin typeface="Arial" pitchFamily="34" charset="0"/>
                <a:ea typeface="Arial" pitchFamily="34" charset="-122"/>
                <a:cs typeface="Arial" pitchFamily="34" charset="-120"/>
              </a:rPr>
              <a:t>➢</a:t>
            </a:r>
            <a:endParaRPr lang="en-US" sz="2100" dirty="0"/>
          </a:p>
        </p:txBody>
      </p:sp>
      <p:sp>
        <p:nvSpPr>
          <p:cNvPr id="11" name="Text 8"/>
          <p:cNvSpPr txBox="1"/>
          <p:nvPr/>
        </p:nvSpPr>
        <p:spPr>
          <a:xfrm>
            <a:off x="1188720" y="3895344"/>
            <a:ext cx="9966960" cy="457200"/>
          </a:xfrm>
          <a:prstGeom prst="rect">
            <a:avLst/>
          </a:prstGeom>
          <a:noFill/>
          <a:ln/>
        </p:spPr>
        <p:txBody>
          <a:bodyPr wrap="square" lIns="0" tIns="0" rIns="0" bIns="0" rtlCol="0" anchor="t"/>
          <a:lstStyle/>
          <a:p>
            <a:pPr marL="0" indent="0">
              <a:buNone/>
            </a:pPr>
            <a:r>
              <a:rPr lang="en-US" sz="2100" dirty="0">
                <a:solidFill>
                  <a:srgbClr val="000000"/>
                </a:solidFill>
                <a:latin typeface="Times New Roman" pitchFamily="34" charset="0"/>
                <a:ea typeface="Times New Roman" pitchFamily="34" charset="-122"/>
                <a:cs typeface="Times New Roman" pitchFamily="34" charset="-120"/>
              </a:rPr>
              <a:t>Issue: Not assigned / N/A</a:t>
            </a:r>
            <a:endParaRPr lang="en-US" sz="2100" dirty="0"/>
          </a:p>
        </p:txBody>
      </p:sp>
      <p:sp>
        <p:nvSpPr>
          <p:cNvPr id="12" name="Text 9"/>
          <p:cNvSpPr txBox="1"/>
          <p:nvPr/>
        </p:nvSpPr>
        <p:spPr>
          <a:xfrm>
            <a:off x="822960" y="4553712"/>
            <a:ext cx="365760" cy="457200"/>
          </a:xfrm>
          <a:prstGeom prst="rect">
            <a:avLst/>
          </a:prstGeom>
          <a:noFill/>
          <a:ln/>
        </p:spPr>
        <p:txBody>
          <a:bodyPr wrap="square" lIns="0" tIns="0" rIns="0" bIns="0" rtlCol="0" anchor="t"/>
          <a:lstStyle/>
          <a:p>
            <a:pPr marL="0" indent="0">
              <a:buNone/>
            </a:pPr>
            <a:r>
              <a:rPr lang="en-US" sz="2100" b="1" dirty="0">
                <a:solidFill>
                  <a:srgbClr val="000000"/>
                </a:solidFill>
                <a:latin typeface="Arial" pitchFamily="34" charset="0"/>
                <a:ea typeface="Arial" pitchFamily="34" charset="-122"/>
                <a:cs typeface="Arial" pitchFamily="34" charset="-120"/>
              </a:rPr>
              <a:t>➢</a:t>
            </a:r>
            <a:endParaRPr lang="en-US" sz="2100" dirty="0"/>
          </a:p>
        </p:txBody>
      </p:sp>
      <p:sp>
        <p:nvSpPr>
          <p:cNvPr id="13" name="Text 10"/>
          <p:cNvSpPr txBox="1"/>
          <p:nvPr/>
        </p:nvSpPr>
        <p:spPr>
          <a:xfrm>
            <a:off x="1188720" y="4553712"/>
            <a:ext cx="9966960" cy="457200"/>
          </a:xfrm>
          <a:prstGeom prst="rect">
            <a:avLst/>
          </a:prstGeom>
          <a:noFill/>
          <a:ln/>
        </p:spPr>
        <p:txBody>
          <a:bodyPr wrap="square" lIns="0" tIns="0" rIns="0" bIns="0" rtlCol="0" anchor="t"/>
          <a:lstStyle/>
          <a:p>
            <a:pPr marL="0" indent="0">
              <a:buNone/>
            </a:pPr>
            <a:r>
              <a:rPr lang="en-US" sz="2100" dirty="0">
                <a:solidFill>
                  <a:srgbClr val="000000"/>
                </a:solidFill>
                <a:latin typeface="Times New Roman" pitchFamily="34" charset="0"/>
                <a:ea typeface="Times New Roman" pitchFamily="34" charset="-122"/>
                <a:cs typeface="Times New Roman" pitchFamily="34" charset="-120"/>
              </a:rPr>
              <a:t>DOI: 10.1109/ACCESS.2026.3709651</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457200" y="868680"/>
            <a:ext cx="11247120" cy="64008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Problem Statement</a:t>
            </a:r>
            <a:endParaRPr lang="en-US" sz="3200" dirty="0"/>
          </a:p>
        </p:txBody>
      </p:sp>
      <p:sp>
        <p:nvSpPr>
          <p:cNvPr id="4" name="Text 1"/>
          <p:cNvSpPr txBox="1"/>
          <p:nvPr/>
        </p:nvSpPr>
        <p:spPr>
          <a:xfrm>
            <a:off x="822960" y="1737360"/>
            <a:ext cx="10515600" cy="4114800"/>
          </a:xfrm>
          <a:prstGeom prst="rect">
            <a:avLst/>
          </a:prstGeom>
          <a:noFill/>
          <a:ln/>
        </p:spPr>
        <p:txBody>
          <a:bodyPr wrap="square" lIns="0" tIns="0" rIns="0" bIns="0" rtlCol="0" anchor="t"/>
          <a:lstStyle/>
          <a:p>
            <a:pPr marL="0" indent="0" algn="just">
              <a:lnSpc>
                <a:spcPct val="135000"/>
              </a:lnSpc>
              <a:buNone/>
            </a:pPr>
            <a:r>
              <a:rPr lang="en-US" sz="2000" dirty="0">
                <a:solidFill>
                  <a:srgbClr val="000000"/>
                </a:solidFill>
                <a:latin typeface="Times New Roman" pitchFamily="34" charset="0"/>
                <a:ea typeface="Times New Roman" pitchFamily="34" charset="-122"/>
                <a:cs typeface="Times New Roman" pitchFamily="34" charset="-120"/>
              </a:rPr>
              <a:t>Students often struggle to understand their resume quality, skill gaps, job suitability, and placement chances. This project uses AI/ML to analyze resumes and student profiles.</a:t>
            </a:r>
            <a:endParaRPr lang="en-US" sz="2000" dirty="0"/>
          </a:p>
          <a:p>
            <a:pPr marL="0" indent="0" algn="just">
              <a:lnSpc>
                <a:spcPct val="135000"/>
              </a:lnSpc>
              <a:buNone/>
            </a:pPr>
            <a:endParaRPr lang="en-US" sz="2000" dirty="0"/>
          </a:p>
          <a:p>
            <a:pPr marL="0" indent="0" algn="just">
              <a:lnSpc>
                <a:spcPct val="135000"/>
              </a:lnSpc>
              <a:buNone/>
            </a:pPr>
            <a:r>
              <a:rPr lang="en-US" sz="2000" dirty="0">
                <a:solidFill>
                  <a:srgbClr val="000000"/>
                </a:solidFill>
                <a:latin typeface="Times New Roman" pitchFamily="34" charset="0"/>
                <a:ea typeface="Times New Roman" pitchFamily="34" charset="-122"/>
                <a:cs typeface="Times New Roman" pitchFamily="34" charset="-120"/>
              </a:rPr>
              <a:t>It identifies missing skills, suggests resume improvements, and matches students with relevant jobs. It also predicts placement outcomes using CGPA, skills, internships, projects, communication, and aptitude scores. The system provides personalized recommendations to improve students' career opportunities.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457200" y="868680"/>
            <a:ext cx="11247120" cy="64008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Proposed Title of the Project</a:t>
            </a:r>
            <a:endParaRPr lang="en-US" sz="3200" dirty="0"/>
          </a:p>
        </p:txBody>
      </p:sp>
      <p:sp>
        <p:nvSpPr>
          <p:cNvPr id="4" name="Text 1"/>
          <p:cNvSpPr txBox="1"/>
          <p:nvPr/>
        </p:nvSpPr>
        <p:spPr>
          <a:xfrm>
            <a:off x="640080" y="2743200"/>
            <a:ext cx="10881360" cy="1005840"/>
          </a:xfrm>
          <a:prstGeom prst="rect">
            <a:avLst/>
          </a:prstGeom>
          <a:noFill/>
          <a:ln/>
        </p:spPr>
        <p:txBody>
          <a:bodyPr wrap="square" lIns="0" tIns="0" rIns="0" bIns="0" rtlCol="0" anchor="ctr"/>
          <a:lstStyle/>
          <a:p>
            <a:pPr algn="ctr"/>
            <a:r>
              <a:rPr lang="en-US" sz="3600" b="1" dirty="0" err="1">
                <a:solidFill>
                  <a:srgbClr val="C00000"/>
                </a:solidFill>
                <a:latin typeface="Times New Roman" pitchFamily="34" charset="0"/>
                <a:ea typeface="Times New Roman" pitchFamily="34" charset="-122"/>
                <a:cs typeface="Times New Roman" pitchFamily="34" charset="-120"/>
              </a:rPr>
              <a:t>CareerFit</a:t>
            </a:r>
            <a:r>
              <a:rPr lang="en-US" sz="3600" b="1" dirty="0">
                <a:solidFill>
                  <a:srgbClr val="C00000"/>
                </a:solidFill>
                <a:latin typeface="Times New Roman" pitchFamily="34" charset="0"/>
                <a:ea typeface="Times New Roman" pitchFamily="34" charset="-122"/>
                <a:cs typeface="Times New Roman" pitchFamily="34" charset="-120"/>
              </a:rPr>
              <a:t>: AI Based Career &amp; Job Matching </a:t>
            </a:r>
            <a:endParaRPr lang="en-US" sz="3600" dirty="0"/>
          </a:p>
        </p:txBody>
      </p:sp>
      <p:sp>
        <p:nvSpPr>
          <p:cNvPr id="5" name="Text 2"/>
          <p:cNvSpPr txBox="1"/>
          <p:nvPr/>
        </p:nvSpPr>
        <p:spPr>
          <a:xfrm>
            <a:off x="1463040" y="3840480"/>
            <a:ext cx="9235440" cy="822960"/>
          </a:xfrm>
          <a:prstGeom prst="rect">
            <a:avLst/>
          </a:prstGeom>
          <a:noFill/>
          <a:ln/>
        </p:spPr>
        <p:txBody>
          <a:bodyPr wrap="square" lIns="0" tIns="0" rIns="0" bIns="0" rtlCol="0" anchor="ctr"/>
          <a:lstStyle/>
          <a:p>
            <a:pPr marL="0" indent="0" algn="ctr">
              <a:buNone/>
            </a:pPr>
            <a:r>
              <a:rPr lang="en-US" sz="1800" i="1" dirty="0">
                <a:solidFill>
                  <a:srgbClr val="000000"/>
                </a:solidFill>
                <a:latin typeface="Times New Roman" pitchFamily="34" charset="0"/>
                <a:ea typeface="Times New Roman" pitchFamily="34" charset="-122"/>
                <a:cs typeface="Times New Roman" pitchFamily="34" charset="-120"/>
              </a:rPr>
              <a:t>A machine learning-based smart career system combining resume analysis, skill-gap identification, job matching, and placement prediction.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457200" y="868680"/>
            <a:ext cx="11247120" cy="64008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Abstract</a:t>
            </a:r>
            <a:endParaRPr lang="en-US" sz="3200" dirty="0"/>
          </a:p>
        </p:txBody>
      </p:sp>
      <p:sp>
        <p:nvSpPr>
          <p:cNvPr id="4" name="Text 1"/>
          <p:cNvSpPr txBox="1"/>
          <p:nvPr/>
        </p:nvSpPr>
        <p:spPr>
          <a:xfrm>
            <a:off x="822960" y="1691640"/>
            <a:ext cx="10515600" cy="4572000"/>
          </a:xfrm>
          <a:prstGeom prst="rect">
            <a:avLst/>
          </a:prstGeom>
          <a:noFill/>
          <a:ln/>
        </p:spPr>
        <p:txBody>
          <a:bodyPr wrap="square" lIns="0" tIns="0" rIns="0" bIns="0" rtlCol="0" anchor="t"/>
          <a:lstStyle/>
          <a:p>
            <a:pPr marL="0" indent="0" algn="just">
              <a:lnSpc>
                <a:spcPct val="130000"/>
              </a:lnSpc>
              <a:buNone/>
            </a:pPr>
            <a:r>
              <a:rPr lang="en-US" sz="1650" dirty="0">
                <a:solidFill>
                  <a:srgbClr val="000000"/>
                </a:solidFill>
                <a:latin typeface="Times New Roman" pitchFamily="34" charset="0"/>
                <a:ea typeface="Times New Roman" pitchFamily="34" charset="-122"/>
                <a:cs typeface="Times New Roman" pitchFamily="34" charset="-120"/>
              </a:rPr>
              <a:t>Students often face difficulties in evaluating their resumes, identifying skill gaps, finding suitable job roles, and understanding their placement prospects. This project proposes a machine learning-based smart career system that combines resume analysis, skill-gap identification, job matching, and placement prediction. The system uses Natural Language Processing (NLP) to extract skills and keywords from resumes and job descriptions and compares them to identify missing or weak skills. Student factors such as CGPA, technical skills, communication skills, internships, projects, and aptitude scores are used to predict placement outcomes. Based on the analysis, the system suggests relevant skills, resume improvements, and suitable job opportunities. The proposed system aims to provide students with a personalized career profile and data-driven recommendations. By combining resume optimization, job matching, and placement prediction, the project helps students understand their current capabilities, identify areas for improvement, and prepare for suitable career opportunities more effectively.</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457200" y="868680"/>
            <a:ext cx="11247120" cy="64008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Objectives and Outcomes</a:t>
            </a:r>
            <a:endParaRPr lang="en-US" sz="3200" dirty="0"/>
          </a:p>
        </p:txBody>
      </p:sp>
      <p:sp>
        <p:nvSpPr>
          <p:cNvPr id="4" name="Text 1"/>
          <p:cNvSpPr txBox="1"/>
          <p:nvPr/>
        </p:nvSpPr>
        <p:spPr>
          <a:xfrm>
            <a:off x="640080" y="1691640"/>
            <a:ext cx="5394960" cy="457200"/>
          </a:xfrm>
          <a:prstGeom prst="rect">
            <a:avLst/>
          </a:prstGeom>
          <a:noFill/>
          <a:ln/>
        </p:spPr>
        <p:txBody>
          <a:bodyPr wrap="square" lIns="0" tIns="0" rIns="0" bIns="0" rtlCol="0" anchor="ctr"/>
          <a:lstStyle/>
          <a:p>
            <a:pPr marL="0" indent="0">
              <a:buNone/>
            </a:pPr>
            <a:r>
              <a:rPr lang="en-US" sz="2400" b="1" dirty="0">
                <a:solidFill>
                  <a:srgbClr val="0070C0"/>
                </a:solidFill>
                <a:latin typeface="Times New Roman" pitchFamily="34" charset="0"/>
                <a:ea typeface="Times New Roman" pitchFamily="34" charset="-122"/>
                <a:cs typeface="Times New Roman" pitchFamily="34" charset="-120"/>
              </a:rPr>
              <a:t>Objectives</a:t>
            </a:r>
            <a:endParaRPr lang="en-US" sz="2400" dirty="0"/>
          </a:p>
        </p:txBody>
      </p:sp>
      <p:sp>
        <p:nvSpPr>
          <p:cNvPr id="5" name="Text 2"/>
          <p:cNvSpPr txBox="1"/>
          <p:nvPr/>
        </p:nvSpPr>
        <p:spPr>
          <a:xfrm>
            <a:off x="640080" y="2240280"/>
            <a:ext cx="365760" cy="457200"/>
          </a:xfrm>
          <a:prstGeom prst="rect">
            <a:avLst/>
          </a:prstGeom>
          <a:noFill/>
          <a:ln/>
        </p:spPr>
        <p:txBody>
          <a:bodyPr wrap="square" lIns="0" tIns="0" rIns="0" bIns="0" rtlCol="0" anchor="t"/>
          <a:lstStyle/>
          <a:p>
            <a:pPr marL="0" indent="0">
              <a:buNone/>
            </a:pPr>
            <a:r>
              <a:rPr lang="en-US" sz="1600" b="1" dirty="0">
                <a:solidFill>
                  <a:srgbClr val="000000"/>
                </a:solidFill>
                <a:latin typeface="Arial" pitchFamily="34" charset="0"/>
                <a:ea typeface="Arial" pitchFamily="34" charset="-122"/>
                <a:cs typeface="Arial" pitchFamily="34" charset="-120"/>
              </a:rPr>
              <a:t>➢</a:t>
            </a:r>
            <a:endParaRPr lang="en-US" sz="1600" dirty="0"/>
          </a:p>
        </p:txBody>
      </p:sp>
      <p:sp>
        <p:nvSpPr>
          <p:cNvPr id="6" name="Text 3"/>
          <p:cNvSpPr txBox="1"/>
          <p:nvPr/>
        </p:nvSpPr>
        <p:spPr>
          <a:xfrm>
            <a:off x="1005840" y="2240280"/>
            <a:ext cx="5029200" cy="45720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Analyze students' resumes and profiles to identify skill gaps and match them with suitable job roles.</a:t>
            </a:r>
            <a:endParaRPr lang="en-US" sz="1600" dirty="0"/>
          </a:p>
        </p:txBody>
      </p:sp>
      <p:sp>
        <p:nvSpPr>
          <p:cNvPr id="7" name="Text 4"/>
          <p:cNvSpPr txBox="1"/>
          <p:nvPr/>
        </p:nvSpPr>
        <p:spPr>
          <a:xfrm>
            <a:off x="640080" y="3794760"/>
            <a:ext cx="365760" cy="457200"/>
          </a:xfrm>
          <a:prstGeom prst="rect">
            <a:avLst/>
          </a:prstGeom>
          <a:noFill/>
          <a:ln/>
        </p:spPr>
        <p:txBody>
          <a:bodyPr wrap="square" lIns="0" tIns="0" rIns="0" bIns="0" rtlCol="0" anchor="t"/>
          <a:lstStyle/>
          <a:p>
            <a:pPr marL="0" indent="0">
              <a:buNone/>
            </a:pPr>
            <a:r>
              <a:rPr lang="en-US" sz="1600" b="1" dirty="0">
                <a:solidFill>
                  <a:srgbClr val="000000"/>
                </a:solidFill>
                <a:latin typeface="Arial" pitchFamily="34" charset="0"/>
                <a:ea typeface="Arial" pitchFamily="34" charset="-122"/>
                <a:cs typeface="Arial" pitchFamily="34" charset="-120"/>
              </a:rPr>
              <a:t>➢</a:t>
            </a:r>
            <a:endParaRPr lang="en-US" sz="1600" dirty="0"/>
          </a:p>
        </p:txBody>
      </p:sp>
      <p:sp>
        <p:nvSpPr>
          <p:cNvPr id="8" name="Text 5"/>
          <p:cNvSpPr txBox="1"/>
          <p:nvPr/>
        </p:nvSpPr>
        <p:spPr>
          <a:xfrm>
            <a:off x="1005840" y="3794760"/>
            <a:ext cx="5029200" cy="45720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Predict placement outcomes using factors such as CGPA, skills, internships, projects, communication, and aptitude scores.</a:t>
            </a:r>
            <a:endParaRPr lang="en-US" sz="1600" dirty="0"/>
          </a:p>
        </p:txBody>
      </p:sp>
      <p:sp>
        <p:nvSpPr>
          <p:cNvPr id="9" name="Shape 6"/>
          <p:cNvSpPr/>
          <p:nvPr/>
        </p:nvSpPr>
        <p:spPr>
          <a:xfrm>
            <a:off x="6172200" y="1691640"/>
            <a:ext cx="0" cy="4572000"/>
          </a:xfrm>
          <a:prstGeom prst="line">
            <a:avLst/>
          </a:prstGeom>
          <a:noFill/>
          <a:ln w="12700">
            <a:solidFill>
              <a:srgbClr val="AAAAAA"/>
            </a:solidFill>
            <a:prstDash val="solid"/>
          </a:ln>
        </p:spPr>
      </p:sp>
      <p:sp>
        <p:nvSpPr>
          <p:cNvPr id="10" name="Text 7"/>
          <p:cNvSpPr txBox="1"/>
          <p:nvPr/>
        </p:nvSpPr>
        <p:spPr>
          <a:xfrm>
            <a:off x="6400800" y="1691640"/>
            <a:ext cx="5120640" cy="457200"/>
          </a:xfrm>
          <a:prstGeom prst="rect">
            <a:avLst/>
          </a:prstGeom>
          <a:noFill/>
          <a:ln/>
        </p:spPr>
        <p:txBody>
          <a:bodyPr wrap="square" lIns="0" tIns="0" rIns="0" bIns="0" rtlCol="0" anchor="ctr"/>
          <a:lstStyle/>
          <a:p>
            <a:pPr marL="0" indent="0">
              <a:buNone/>
            </a:pPr>
            <a:r>
              <a:rPr lang="en-US" sz="2400" b="1" dirty="0">
                <a:solidFill>
                  <a:srgbClr val="0070C0"/>
                </a:solidFill>
                <a:latin typeface="Times New Roman" pitchFamily="34" charset="0"/>
                <a:ea typeface="Times New Roman" pitchFamily="34" charset="-122"/>
                <a:cs typeface="Times New Roman" pitchFamily="34" charset="-120"/>
              </a:rPr>
              <a:t>Outcomes</a:t>
            </a:r>
            <a:endParaRPr lang="en-US" sz="2400" dirty="0"/>
          </a:p>
        </p:txBody>
      </p:sp>
      <p:sp>
        <p:nvSpPr>
          <p:cNvPr id="11" name="Text 8"/>
          <p:cNvSpPr txBox="1"/>
          <p:nvPr/>
        </p:nvSpPr>
        <p:spPr>
          <a:xfrm>
            <a:off x="6400800" y="2240280"/>
            <a:ext cx="365760" cy="457200"/>
          </a:xfrm>
          <a:prstGeom prst="rect">
            <a:avLst/>
          </a:prstGeom>
          <a:noFill/>
          <a:ln/>
        </p:spPr>
        <p:txBody>
          <a:bodyPr wrap="square" lIns="0" tIns="0" rIns="0" bIns="0" rtlCol="0" anchor="t"/>
          <a:lstStyle/>
          <a:p>
            <a:pPr marL="0" indent="0">
              <a:buNone/>
            </a:pPr>
            <a:r>
              <a:rPr lang="en-US" sz="1600" b="1" dirty="0">
                <a:solidFill>
                  <a:srgbClr val="000000"/>
                </a:solidFill>
                <a:latin typeface="Arial" pitchFamily="34" charset="0"/>
                <a:ea typeface="Arial" pitchFamily="34" charset="-122"/>
                <a:cs typeface="Arial" pitchFamily="34" charset="-120"/>
              </a:rPr>
              <a:t>➢</a:t>
            </a:r>
            <a:endParaRPr lang="en-US" sz="1600" dirty="0"/>
          </a:p>
        </p:txBody>
      </p:sp>
      <p:sp>
        <p:nvSpPr>
          <p:cNvPr id="12" name="Text 9"/>
          <p:cNvSpPr txBox="1"/>
          <p:nvPr/>
        </p:nvSpPr>
        <p:spPr>
          <a:xfrm>
            <a:off x="6766560" y="2240280"/>
            <a:ext cx="4754880" cy="45720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A personalized analysis of the student's career profile with resume improvement and relevant job recommendations.</a:t>
            </a:r>
            <a:endParaRPr lang="en-US" sz="1600" dirty="0"/>
          </a:p>
        </p:txBody>
      </p:sp>
      <p:sp>
        <p:nvSpPr>
          <p:cNvPr id="13" name="Text 10"/>
          <p:cNvSpPr txBox="1"/>
          <p:nvPr/>
        </p:nvSpPr>
        <p:spPr>
          <a:xfrm>
            <a:off x="6400800" y="3794760"/>
            <a:ext cx="365760" cy="457200"/>
          </a:xfrm>
          <a:prstGeom prst="rect">
            <a:avLst/>
          </a:prstGeom>
          <a:noFill/>
          <a:ln/>
        </p:spPr>
        <p:txBody>
          <a:bodyPr wrap="square" lIns="0" tIns="0" rIns="0" bIns="0" rtlCol="0" anchor="t"/>
          <a:lstStyle/>
          <a:p>
            <a:pPr marL="0" indent="0">
              <a:buNone/>
            </a:pPr>
            <a:r>
              <a:rPr lang="en-US" sz="1600" b="1" dirty="0">
                <a:solidFill>
                  <a:srgbClr val="000000"/>
                </a:solidFill>
                <a:latin typeface="Arial" pitchFamily="34" charset="0"/>
                <a:ea typeface="Arial" pitchFamily="34" charset="-122"/>
                <a:cs typeface="Arial" pitchFamily="34" charset="-120"/>
              </a:rPr>
              <a:t>➢</a:t>
            </a:r>
            <a:endParaRPr lang="en-US" sz="1600" dirty="0"/>
          </a:p>
        </p:txBody>
      </p:sp>
      <p:sp>
        <p:nvSpPr>
          <p:cNvPr id="14" name="Text 11"/>
          <p:cNvSpPr txBox="1"/>
          <p:nvPr/>
        </p:nvSpPr>
        <p:spPr>
          <a:xfrm>
            <a:off x="6766560" y="3794760"/>
            <a:ext cx="4754880" cy="45720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An ML-based placement prediction that helps students identify areas for improvement and prepare for suitable opportunities.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claude/pptx_work2/assets/aditya_logo.png"/>
          <p:cNvPicPr>
            <a:picLocks noChangeAspect="1"/>
          </p:cNvPicPr>
          <p:nvPr/>
        </p:nvPicPr>
        <p:blipFill>
          <a:blip r:embed="rId3"/>
          <a:stretch>
            <a:fillRect/>
          </a:stretch>
        </p:blipFill>
        <p:spPr>
          <a:xfrm>
            <a:off x="365760" y="320040"/>
            <a:ext cx="1920240" cy="254432"/>
          </a:xfrm>
          <a:prstGeom prst="rect">
            <a:avLst/>
          </a:prstGeom>
        </p:spPr>
      </p:pic>
      <p:sp>
        <p:nvSpPr>
          <p:cNvPr id="3" name="Text 0"/>
          <p:cNvSpPr txBox="1"/>
          <p:nvPr/>
        </p:nvSpPr>
        <p:spPr>
          <a:xfrm>
            <a:off x="1828800" y="2834640"/>
            <a:ext cx="8229600" cy="1097280"/>
          </a:xfrm>
          <a:prstGeom prst="rect">
            <a:avLst/>
          </a:prstGeom>
          <a:noFill/>
          <a:ln/>
        </p:spPr>
        <p:txBody>
          <a:bodyPr wrap="square" lIns="0" tIns="0" rIns="0" bIns="0" rtlCol="0" anchor="ctr"/>
          <a:lstStyle/>
          <a:p>
            <a:pPr marL="0" indent="0">
              <a:buNone/>
            </a:pPr>
            <a:r>
              <a:rPr lang="en-US" sz="4800" b="1" dirty="0">
                <a:solidFill>
                  <a:srgbClr val="000000"/>
                </a:solidFill>
                <a:latin typeface="Arial" pitchFamily="34" charset="0"/>
                <a:ea typeface="Arial" pitchFamily="34" charset="-122"/>
                <a:cs typeface="Arial"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549</Words>
  <Application>Microsoft Office PowerPoint</Application>
  <PresentationFormat>Widescreen</PresentationFormat>
  <Paragraphs>57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24A95A0501</cp:lastModifiedBy>
  <cp:revision>2</cp:revision>
  <dcterms:created xsi:type="dcterms:W3CDTF">2026-09-17T01:56:12Z</dcterms:created>
  <dcterms:modified xsi:type="dcterms:W3CDTF">2026-09-17T02:06:43Z</dcterms:modified>
</cp:coreProperties>
</file>